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image" Target="../media/image5.gif"/><Relationship Id="rId4" Type="http://schemas.openxmlformats.org/officeDocument/2006/relationships/image" Target="../media/image6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image" Target="../media/image11.gif"/><Relationship Id="rId4" Type="http://schemas.openxmlformats.org/officeDocument/2006/relationships/image" Target="../media/image12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Relationship Id="rId3" Type="http://schemas.openxmlformats.org/officeDocument/2006/relationships/image" Target="../media/image14.gif"/><Relationship Id="rId4" Type="http://schemas.openxmlformats.org/officeDocument/2006/relationships/image" Target="../media/image15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gif"/><Relationship Id="rId3" Type="http://schemas.openxmlformats.org/officeDocument/2006/relationships/image" Target="../media/image11.gif"/><Relationship Id="rId4" Type="http://schemas.openxmlformats.org/officeDocument/2006/relationships/image" Target="../media/image21.gif"/><Relationship Id="rId5" Type="http://schemas.openxmlformats.org/officeDocument/2006/relationships/image" Target="../media/image22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Relationship Id="rId3" Type="http://schemas.openxmlformats.org/officeDocument/2006/relationships/image" Target="../media/image27.gif"/><Relationship Id="rId4" Type="http://schemas.openxmlformats.org/officeDocument/2006/relationships/image" Target="../media/image28.gif"/><Relationship Id="rId5" Type="http://schemas.openxmlformats.org/officeDocument/2006/relationships/image" Target="../media/image29.gi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gif"/><Relationship Id="rId3" Type="http://schemas.openxmlformats.org/officeDocument/2006/relationships/image" Target="../media/image34.gif"/><Relationship Id="rId4" Type="http://schemas.openxmlformats.org/officeDocument/2006/relationships/image" Target="../media/image35.gif"/><Relationship Id="rId5" Type="http://schemas.openxmlformats.org/officeDocument/2006/relationships/image" Target="../media/image36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gif"/><Relationship Id="rId3" Type="http://schemas.openxmlformats.org/officeDocument/2006/relationships/image" Target="../media/image41.gif"/><Relationship Id="rId4" Type="http://schemas.openxmlformats.org/officeDocument/2006/relationships/image" Target="../media/image42.gif"/><Relationship Id="rId5" Type="http://schemas.openxmlformats.org/officeDocument/2006/relationships/image" Target="../media/image43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Aproximación de Imágenes con Algoritmos Genéticos</a:t>
            </a:r>
          </a:p>
          <a:p>
            <a:pPr>
              <a:spcBef>
                <a:spcPts val="1600"/>
              </a:spcBef>
              <a:defRPr sz="2000">
                <a:solidFill>
                  <a:srgbClr val="BEE3F8"/>
                </a:solidFill>
                <a:latin typeface="Arial"/>
              </a:defRPr>
            </a:pPr>
            <a:r>
              <a:t>Sistemas de Inteligencia Artificial — Trabajo Práctico 2</a:t>
            </a:r>
          </a:p>
          <a:p>
            <a:pPr>
              <a:spcBef>
                <a:spcPts val="20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Optimización evolutiva de operadores, selección, cruza, mutación y fenotipos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El Problema: Aproximación Vectorial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Objetivo y restricciones del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65836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6035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Reconstruir una imagen objetivo mediante la superposición de figuras geométricas semitransparentes.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Número fijo de figuras por individuo (longitud de cromosoma constante, ~100 genes).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El orden de los genes en el individuo determina la capa de dibujado (z-order) sobre un lienzo de fondo fijo.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Espacio de búsqueda masivo: parámetros continuos de coordenadas, colores y transparencias.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Desafío computacional: la rasterización de fenotipos y cálculo de fitness es el cuello de botella.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737360"/>
            <a:ext cx="38404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9202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Imagen Objetivo de Referencia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68880"/>
            <a:ext cx="3474720" cy="23350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Modelo Genético: Genotipo, Fenotipo y Fitness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Estructura de la solución candidata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Genotipo (Cromosoma)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Vector de 100 figuras (genes).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Cada gen codifica coordenadas (x, y), rotación/radios y RGBA de 8 bits.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El locus fija el orden de dibujado.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Fenotipo (Imagen)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Imagen rasterizada sobre fondo opaco fijo.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Composición de capas translúcidas (alpha blending).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Caché de fitness: solo se re-renderiza si el individuo mutó.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Función de Aptitud (Fitness)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Distancia euclídea normalizada respecto a la imagen objetivo píxel a píxel.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Escala en orden 1e-4 a 1e-3.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A mayor aptitud, mayor fidelidad visual.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Metodología: Hilo Conductor de Optimización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Estrategia de selección secuencial hacia adelante (Forward Selection)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Para evitar una explosión combinatoria inabordable, se optimiza un componente a la vez en escala de 100 genes: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Etapa 1: Inicialización — Comparación de generación aleatoria vs sesgos de color.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Etapa 2: Selección de Padres — Evaluación de presión selectiva y retención de diversidad.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Etapa 3: Operadores de Cruza — Análisis de disrupción de esquemas y recombinación.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Etapa 4: Operadores de Mutación — Calibración de tasa y alcance de perturbación.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Etapa 5: Supervivencia y Brecha — Aditiva vs Exclusiva y efecto del parámetro K.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Etapa 6: Geometría de Genes — Desempeño y costo computacional según tipo de figura.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1: Inicialización de la Población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Estrategias de generación inicial y sesgo de color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Estrategias Evaluadas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Aleatoria Uniforme: Colores y coordenadas muestreados al azar en todo el lienzo.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Sesgo Bounding Box: Color promedio de la caja envolvente de la figura en el objetivo.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Sesgo Exact Match: Promedio exacto rasterizando la máscara del polígono u óvalo.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Tradeoffs Hipotéticos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Aleatorio: Máxima diversidad inicial, pero fitness de partida ínfimo (~1e-4) desperdiciando generaciones para fijar el fondo.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Bounding Box: O(1) geométrico, salto inmediato en fitness con costo de cómputo despreciable.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Exact Match: Mayor fidelidad cromática pero requiere rasterizar cada figura en gen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1: Rendimiento y Convergencia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Comparativa cuantitativa a 30 generaciones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Evolución del Fitness Máximo</a:t>
            </a:r>
          </a:p>
        </p:txBody>
      </p:sp>
      <p:pic>
        <p:nvPicPr>
          <p:cNvPr id="7" name="Picture 6" descr="fitness_maxi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846320" cy="316416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Tiempo por Generación</a:t>
            </a:r>
          </a:p>
        </p:txBody>
      </p:sp>
      <p:pic>
        <p:nvPicPr>
          <p:cNvPr id="10" name="Picture 9" descr="tiempo_gener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86000"/>
            <a:ext cx="4846320" cy="32877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1: Reconstrucción Visual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Animación evolutiva generada por cada variante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Aleatoria Uniforme</a:t>
            </a:r>
          </a:p>
        </p:txBody>
      </p:sp>
      <p:pic>
        <p:nvPicPr>
          <p:cNvPr id="7" name="Picture 6" descr="bron50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3017520" cy="203179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891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Sesgo Bounding Box</a:t>
            </a:r>
          </a:p>
        </p:txBody>
      </p:sp>
      <p:pic>
        <p:nvPicPr>
          <p:cNvPr id="10" name="Picture 9" descr="bron50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68880"/>
            <a:ext cx="3017520" cy="20317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467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Sesgo Exact Match</a:t>
            </a:r>
          </a:p>
        </p:txBody>
      </p:sp>
      <p:pic>
        <p:nvPicPr>
          <p:cNvPr id="13" name="Picture 12" descr="bron500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468880"/>
            <a:ext cx="3017520" cy="20317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1: Conclusión y Selección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Elección del método óptimo de inicialización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A169"/>
                </a:solidFill>
              </a:defRPr>
            </a:pPr>
            <a:r>
              <a:t>Ganador de la Etapa: Sesgo de Color (Bounding Box / Exact Match)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El sesgo de color logra un fitness final de 0.00065 vs 0.00013 de la inicialización aleatoria (mejora de 5x en 30 generaciones).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Bounding Box alcanza prácticamente la misma convergencia que Exact Match con menor costo en inicialización.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Se adopta Sesgo Bounding Box para todas las etapas siguientes, permitiendo que las figuras arranquen con tonos cromáticos pertinentes.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2: Métodos de Selección (Evaluación Aislada)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Análisis de la presión selectiva sobre población fija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Comportamiento de Selección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Ruleta / Universal: Debido a diferencias mínimas de aptitud (1e-4), la ruleta asigna probabilidades casi planas (presión selectiva nula).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Torneo Determinístico: Ejerce fuerte presión seleccionando a los más aptos de cada grupo sin depender de la escala numérica.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Ranking: Provee presión lineal uniforme desacoplada de la magnitud del fitness.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Elite: Concentra el 100% de la masa en los primeros lugares.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Frecuencia de Selección vs Ranking</a:t>
            </a:r>
          </a:p>
        </p:txBody>
      </p:sp>
      <p:pic>
        <p:nvPicPr>
          <p:cNvPr id="9" name="Picture 8" descr="frecuencia_sel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4846320" cy="32454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2: Selección en Ciclo Evolutivo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Curvas generacionales de fitness y diversidad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Fitness Máximo vs Generación</a:t>
            </a:r>
          </a:p>
        </p:txBody>
      </p:sp>
      <p:pic>
        <p:nvPicPr>
          <p:cNvPr id="7" name="Picture 6" descr="fitness_maxi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846320" cy="308681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Diversidad Genética Normalizada</a:t>
            </a:r>
          </a:p>
        </p:txBody>
      </p:sp>
      <p:pic>
        <p:nvPicPr>
          <p:cNvPr id="10" name="Picture 9" descr="divers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86000"/>
            <a:ext cx="4846320" cy="32454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2: Reconstrucción Visual (Grupo A)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Elite, Torneo Determinístico y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Elite</a:t>
            </a:r>
          </a:p>
        </p:txBody>
      </p:sp>
      <p:pic>
        <p:nvPicPr>
          <p:cNvPr id="7" name="Picture 6" descr="bron50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3017520" cy="203179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891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Torneo Det (k=3)</a:t>
            </a:r>
          </a:p>
        </p:txBody>
      </p:sp>
      <p:pic>
        <p:nvPicPr>
          <p:cNvPr id="10" name="Picture 9" descr="bron50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68880"/>
            <a:ext cx="3017520" cy="20317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467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Ranking</a:t>
            </a:r>
          </a:p>
        </p:txBody>
      </p:sp>
      <p:pic>
        <p:nvPicPr>
          <p:cNvPr id="13" name="Picture 12" descr="bron500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468880"/>
            <a:ext cx="3017520" cy="20317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2: Reconstrucción Visual (Grupo B)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Ruleta, Torneo Probabilístico y Boltzmann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Ruleta</a:t>
            </a:r>
          </a:p>
        </p:txBody>
      </p:sp>
      <p:pic>
        <p:nvPicPr>
          <p:cNvPr id="7" name="Picture 6" descr="bron50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3017520" cy="203179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891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Torneo Prob (p=0.75)</a:t>
            </a:r>
          </a:p>
        </p:txBody>
      </p:sp>
      <p:pic>
        <p:nvPicPr>
          <p:cNvPr id="10" name="Picture 9" descr="bron50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68880"/>
            <a:ext cx="3017520" cy="20317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46720" y="173736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9202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Boltzmann</a:t>
            </a:r>
          </a:p>
        </p:txBody>
      </p:sp>
      <p:pic>
        <p:nvPicPr>
          <p:cNvPr id="13" name="Picture 12" descr="bron500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468880"/>
            <a:ext cx="3017520" cy="203179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2: Conclusión y Selección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Elección del método óptimo de selección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A169"/>
                </a:solidFill>
              </a:defRPr>
            </a:pPr>
            <a:r>
              <a:t>Ganador de la Etapa: Torneo Determinístico (k=3) / Ranking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Torneo Determinístico ofrece una excelente presión selectiva ajustable mediante el parámetro k.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Ruleta y Universal quedan descartadas para este dominio por la inviabilidad de trabajar con fitnesses que difieren en quintas decimales.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Elite colapsa la diversidad prematuramente hacia copias del mismo individuo.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Se traslada Torneo Determinístico a las siguientes etapas.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3: Operadores de Cruza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Recombinación genética y preservación de capas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Mecanismos y Tradeoffs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Un Punto: Intercambia desde una posición P hasta el final. Preserva dos grandes bloques.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Dos Puntos: Intercambia el bloque intermedio [P1, P2). Preserva prefijos y sufijos de figuras contiguas.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Anular: Trata al cromosoma como un anillo, permitiendo intercambiar bloques circulares que cruzan los extremos.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Uniforme: Sortea locus por locus con probabilidad P. Altamente disruptivo para el orden de dibujado (z-order).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3: Benchmark Aislado de Cruza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Cantidad de genes intercambiados y disrupción por locus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Genes Intercambiados (Distribución)</a:t>
            </a:r>
          </a:p>
        </p:txBody>
      </p:sp>
      <p:pic>
        <p:nvPicPr>
          <p:cNvPr id="7" name="Picture 6" descr="genes_intercambi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846320" cy="31310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Probabilidad de Intercambio por Locus</a:t>
            </a:r>
          </a:p>
        </p:txBody>
      </p:sp>
      <p:pic>
        <p:nvPicPr>
          <p:cNvPr id="10" name="Picture 9" descr="frecuencia_l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86000"/>
            <a:ext cx="4846320" cy="32877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3: Cruza en Ciclo Evolutivo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Convergencia y diversidad generacional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Fitness Máximo vs Generación</a:t>
            </a:r>
          </a:p>
        </p:txBody>
      </p:sp>
      <p:pic>
        <p:nvPicPr>
          <p:cNvPr id="7" name="Picture 6" descr="fitness_maxi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846320" cy="31250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Diversidad Genética</a:t>
            </a:r>
          </a:p>
        </p:txBody>
      </p:sp>
      <p:pic>
        <p:nvPicPr>
          <p:cNvPr id="10" name="Picture 9" descr="divers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86000"/>
            <a:ext cx="4846320" cy="32454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3: Reconstrucción Visual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Comparación de los 4 métodos de cruza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Un Punto</a:t>
            </a:r>
          </a:p>
        </p:txBody>
      </p:sp>
      <p:pic>
        <p:nvPicPr>
          <p:cNvPr id="7" name="Picture 6" descr="bron50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68880"/>
            <a:ext cx="2286000" cy="1539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42900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Dos Puntos</a:t>
            </a:r>
          </a:p>
        </p:txBody>
      </p:sp>
      <p:pic>
        <p:nvPicPr>
          <p:cNvPr id="10" name="Picture 9" descr="bron50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68880"/>
            <a:ext cx="228600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2648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Anular</a:t>
            </a:r>
          </a:p>
        </p:txBody>
      </p:sp>
      <p:pic>
        <p:nvPicPr>
          <p:cNvPr id="13" name="Picture 12" descr="bron500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468880"/>
            <a:ext cx="2286000" cy="1539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82396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Uniforme</a:t>
            </a:r>
          </a:p>
        </p:txBody>
      </p:sp>
      <p:pic>
        <p:nvPicPr>
          <p:cNvPr id="16" name="Picture 15" descr="bron500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468880"/>
            <a:ext cx="2286000" cy="1539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3: Conclusión y Selección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Elección del método óptimo de cruza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A169"/>
                </a:solidFill>
              </a:defRPr>
            </a:pPr>
            <a:r>
              <a:t>Ganador de la Etapa: Dos Puntos / Anular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Dos Puntos y Anular logran la mayor tasa de mejora sostenida al preservar bloques de capas continuas.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Cruce Uniforme resulta excesivamente disruptivo para las relaciones espaciales entre figuras superpuestas.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Se fija Cruce en Dos Puntos para las etapas posteriores.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4: Operadores de Mutación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Ajuste fino local vs disrupción fenotípica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365D"/>
                </a:solidFill>
              </a:defRPr>
            </a:pPr>
            <a:r>
              <a:t>Métodos de Mutación Analizados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Gen: Muta exactamente 1 figura con probabilidad Pm. Perturbación muy conservadora.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MultiGen: Muta entre 1 y M figuras sorteando cada una con probabilidad Pm. Permite ajustes locales moderados.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Uniforme: Cada gen tiene probabilidad independiente Pm de mutar (media = gene_count * Pm).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No Uniforme: Sorteo único: o muta el 100% de los genes o ninguno (todo o nada).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4: Benchmark Aislado de Mutación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Distribución de cantidad de genes mutados por individuo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Análisis de Dispersión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Gen muta en promedio 0.5 genes.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MultiGen (k=5) muta 1.5 genes en promedio, limitando la disrupción máxima a 5.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MultiGen (k=15) muta ~4 genes.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No Uniforme presenta alta varianza (desvío 30): salta entre 0 y 100 genes mutados en un solo ciclo.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Genes Mutados (Media y Desvío Acotado)</a:t>
            </a:r>
          </a:p>
        </p:txBody>
      </p:sp>
      <p:pic>
        <p:nvPicPr>
          <p:cNvPr id="9" name="Picture 8" descr="genes_mu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4846320" cy="34589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4: Mutación en Ciclo Evolutivo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Convergencia y diversidad generacional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Fitness Máximo vs Generación</a:t>
            </a:r>
          </a:p>
        </p:txBody>
      </p:sp>
      <p:pic>
        <p:nvPicPr>
          <p:cNvPr id="7" name="Picture 6" descr="fitness_maxi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846320" cy="31250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Diversidad Genética</a:t>
            </a:r>
          </a:p>
        </p:txBody>
      </p:sp>
      <p:pic>
        <p:nvPicPr>
          <p:cNvPr id="10" name="Picture 9" descr="divers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86000"/>
            <a:ext cx="4846320" cy="32454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4: Reconstrucción Visual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Comparación de los métodos de mutación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Gen</a:t>
            </a:r>
          </a:p>
        </p:txBody>
      </p:sp>
      <p:pic>
        <p:nvPicPr>
          <p:cNvPr id="7" name="Picture 6" descr="bron50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68880"/>
            <a:ext cx="2286000" cy="1539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42900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MultiGen (k=5)</a:t>
            </a:r>
          </a:p>
        </p:txBody>
      </p:sp>
      <p:pic>
        <p:nvPicPr>
          <p:cNvPr id="10" name="Picture 9" descr="bron50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68880"/>
            <a:ext cx="228600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2648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Uniforme</a:t>
            </a:r>
          </a:p>
        </p:txBody>
      </p:sp>
      <p:pic>
        <p:nvPicPr>
          <p:cNvPr id="13" name="Picture 12" descr="bron500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468880"/>
            <a:ext cx="2286000" cy="1539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82396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No Uniforme</a:t>
            </a:r>
          </a:p>
        </p:txBody>
      </p:sp>
      <p:pic>
        <p:nvPicPr>
          <p:cNvPr id="16" name="Picture 15" descr="bron500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468880"/>
            <a:ext cx="2286000" cy="1539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4: Conclusión y Selección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Elección del método óptimo de mutación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A169"/>
                </a:solidFill>
              </a:defRPr>
            </a:pPr>
            <a:r>
              <a:t>Ganador de la Etapa: MultiGen (k = 5)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MultiGen permite un ajuste gradual y localizado, manteniendo intacto el 90-95% del fenotipo ya adaptado.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Mutación Gen (1 solo gen) progresa con excesiva lentitud.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Mutación No Uniforme destruye las estructuras consolidadas cuando el evento ocurre.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Se adopta MultiGen con cota máxima de 5 a 15 genes.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5: Estrategias de Supervivencia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Reemplazo generacional y brecha 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Dinámica de Reemplazo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Supervivencia Aditiva: Padres e hijos compiten juntos en un pozo común de tamaño N + K.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Supervivencia Exclusiva: La nueva generación se conforma estrictamente con hijos (con K &gt;= N ningún padre sobrevive).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Brecha generacional K: Proporción de la población renovada en cada ciclo respecto al total N.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Elitismo y Caché: En aditiva, los padres superiores sobreviven sin necesidad de re-evaluar fitness.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5: Benchmark Aislado de Supervivencia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Preservación de padres según estrategia y brecha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Efecto de K y Estrategia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Con K = 100 (K = N), Exclusiva reemplaza el 100% de la población (0 padres sobreviven).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Con K = 20, Exclusiva preserva exactamente N - K = 80 padres por diseño.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En Aditiva, la cantidad de padres depende puramente de la calidad relativa de los hijos producidos.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Padres Sobrevivientes en la Nueva Generación</a:t>
            </a:r>
          </a:p>
        </p:txBody>
      </p:sp>
      <p:pic>
        <p:nvPicPr>
          <p:cNvPr id="9" name="Picture 8" descr="supervivencia_pad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4846320" cy="340253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5: Supervivencia en Ciclo Evolutivo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Monotonía del fitness y preservación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Fitness Máximo vs Generación</a:t>
            </a:r>
          </a:p>
        </p:txBody>
      </p:sp>
      <p:pic>
        <p:nvPicPr>
          <p:cNvPr id="7" name="Picture 6" descr="fitness_maxi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846320" cy="31250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Diversidad Genética</a:t>
            </a:r>
          </a:p>
        </p:txBody>
      </p:sp>
      <p:pic>
        <p:nvPicPr>
          <p:cNvPr id="10" name="Picture 9" descr="divers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86000"/>
            <a:ext cx="4846320" cy="324548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5: Reconstrucción Visual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Supervivencia Aditiva vs Exclusiva con distintos 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Aditiva (K=10)</a:t>
            </a:r>
          </a:p>
        </p:txBody>
      </p:sp>
      <p:pic>
        <p:nvPicPr>
          <p:cNvPr id="7" name="Picture 6" descr="bron50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68880"/>
            <a:ext cx="2286000" cy="1539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42900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Exclusiva (K=10)</a:t>
            </a:r>
          </a:p>
        </p:txBody>
      </p:sp>
      <p:pic>
        <p:nvPicPr>
          <p:cNvPr id="10" name="Picture 9" descr="bron50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68880"/>
            <a:ext cx="228600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2648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Aditiva (K=30)</a:t>
            </a:r>
          </a:p>
        </p:txBody>
      </p:sp>
      <p:pic>
        <p:nvPicPr>
          <p:cNvPr id="13" name="Picture 12" descr="bron500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468880"/>
            <a:ext cx="2286000" cy="1539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82396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Exclusiva (K=30)</a:t>
            </a:r>
          </a:p>
        </p:txBody>
      </p:sp>
      <p:pic>
        <p:nvPicPr>
          <p:cNvPr id="16" name="Picture 15" descr="bron500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468880"/>
            <a:ext cx="2286000" cy="1539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5: Conclusión y Selección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Elección de la estrategia óptima de supervivencia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A169"/>
                </a:solidFill>
              </a:defRPr>
            </a:pPr>
            <a:r>
              <a:t>Ganador de la Etapa: Supervivencia Aditiva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Supervivencia Aditiva garantiza elitismo estricto: el mejor fitness de la corrida nunca decrece.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Permite reutilizar el caché de fitness de los padres sobrevivientes, ahorrando evaluaciones costosas de renderizado.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Exclusiva con K = N arriesga retroceder si los hijos mutan desfavorablemente.</a:t>
            </a:r>
          </a:p>
          <a:p>
            <a:pPr>
              <a:spcBef>
                <a:spcPts val="800"/>
              </a:spcBef>
              <a:defRPr sz="1400">
                <a:solidFill>
                  <a:srgbClr val="2D3748"/>
                </a:solidFill>
                <a:latin typeface="Arial"/>
              </a:defRPr>
            </a:pPr>
            <a:r>
              <a:t>• Se adopta Supervivencia Aditiva.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6: Geometría de Genes y Rendimiento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Tiempo de renderizado según el tipo de figura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Costo Computacional por Tipo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Triángulos: Polígonos de 3 vértices, rasterización simple y eficiente.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Cuadriláteros y Pentágonos: Mayor cantidad de aristas, incrementando ligeramente el tiempo de render por cuadro.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Óvalos: Rasterización elíptica basada en radios y rotación.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A 100 figuras, todas operan entre 1 ms y 3 ms por renderizado.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Tiempo de Renderizado para 100 Figuras (ms)</a:t>
            </a:r>
          </a:p>
        </p:txBody>
      </p:sp>
      <p:pic>
        <p:nvPicPr>
          <p:cNvPr id="9" name="Picture 8" descr="tiempo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4846320" cy="318855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6: Figuras en Ciclo Evolutivo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Convergencia de fitness a 100 genes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Fitness Máximo vs Generación</a:t>
            </a:r>
          </a:p>
        </p:txBody>
      </p:sp>
      <p:pic>
        <p:nvPicPr>
          <p:cNvPr id="7" name="Picture 6" descr="fitness_maxi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846320" cy="31250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73736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/>
            </a:pPr>
            <a:r>
              <a:t>Tiempo por Generación (s)</a:t>
            </a:r>
          </a:p>
        </p:txBody>
      </p:sp>
      <p:pic>
        <p:nvPicPr>
          <p:cNvPr id="10" name="Picture 9" descr="tiempo_gener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86000"/>
            <a:ext cx="4846320" cy="32877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Etapa 6: Reconstrucción Visual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Comparación de los 4 tipos de figura geométrica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Triángulo</a:t>
            </a:r>
          </a:p>
        </p:txBody>
      </p:sp>
      <p:pic>
        <p:nvPicPr>
          <p:cNvPr id="7" name="Picture 6" descr="bron50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68880"/>
            <a:ext cx="2286000" cy="1539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42900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Cuadrilátero</a:t>
            </a:r>
          </a:p>
        </p:txBody>
      </p:sp>
      <p:pic>
        <p:nvPicPr>
          <p:cNvPr id="10" name="Picture 9" descr="bron50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68880"/>
            <a:ext cx="228600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2648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Pentágono</a:t>
            </a:r>
          </a:p>
        </p:txBody>
      </p:sp>
      <p:pic>
        <p:nvPicPr>
          <p:cNvPr id="13" name="Picture 12" descr="bron500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468880"/>
            <a:ext cx="2286000" cy="1539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823960" y="173736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920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/>
            </a:pPr>
            <a:r>
              <a:t>Óvalo</a:t>
            </a:r>
          </a:p>
        </p:txBody>
      </p:sp>
      <p:pic>
        <p:nvPicPr>
          <p:cNvPr id="16" name="Picture 15" descr="bron500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468880"/>
            <a:ext cx="2286000" cy="15392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A365D"/>
                </a:solidFill>
                <a:latin typeface="Arial"/>
              </a:defRPr>
            </a:pPr>
            <a:r>
              <a:t>Configuración Óptima Recomendada</a:t>
            </a:r>
          </a:p>
          <a:p>
            <a:pPr>
              <a:spcBef>
                <a:spcPts val="400"/>
              </a:spcBef>
              <a:defRPr sz="1300">
                <a:solidFill>
                  <a:srgbClr val="4A5568"/>
                </a:solidFill>
                <a:latin typeface="Arial"/>
              </a:defRPr>
            </a:pPr>
            <a:r>
              <a:t>Consolidación de las variantes ganadoras del hilo conductor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A365D"/>
                </a:solidFill>
              </a:defRPr>
            </a:pPr>
            <a:r>
              <a:t>Receta Óptima del Motor Genético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Inicialización: Sesgo de Color (Bounding Box) — Acelera 5x la convergencia temprana.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Selección: Torneo Determinístico (k=3 a 5) — Presión selectiva robusta e independiente de la escala de fitness.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Cruza: Dos Puntos / Anular — Preserva esquemas y capas continuas de renderizado.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Mutación: MultiGen (k=5 a 15) — Perturbaciones acotadas para ajuste fino sin destruir la estructura global.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Supervivencia: Aditiva con brecha generacional moderada — Elitismo estricto y máximo ahorro de re-renderizado.</a:t>
            </a:r>
          </a:p>
          <a:p>
            <a:pPr>
              <a:spcBef>
                <a:spcPts val="800"/>
              </a:spcBef>
              <a:defRPr sz="1300">
                <a:solidFill>
                  <a:srgbClr val="2D3748"/>
                </a:solidFill>
                <a:latin typeface="Arial"/>
              </a:defRPr>
            </a:pPr>
            <a:r>
              <a:t>• Figura: Triángulos (para agilidad y flexibilidad poligonal) u Óvalos (para transiciones suaves).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¿Preguntas?</a:t>
            </a:r>
          </a:p>
          <a:p>
            <a:pPr algn="ctr">
              <a:spcBef>
                <a:spcPts val="1400"/>
              </a:spcBef>
              <a:defRPr sz="1800">
                <a:solidFill>
                  <a:srgbClr val="BEE3F8"/>
                </a:solidFill>
                <a:latin typeface="Arial"/>
              </a:defRPr>
            </a:pPr>
            <a:r>
              <a:t>Sistemas de Inteligencia Artificial — ITBA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